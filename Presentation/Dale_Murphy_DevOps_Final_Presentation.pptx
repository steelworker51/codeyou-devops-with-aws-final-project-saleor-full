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DevOps with AWS Final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Saleor E-commerce Deployment</a:t>
            </a:r>
          </a:p>
          <a:p>
            <a:pPr>
              <a:defRPr sz="2400"/>
            </a:pPr>
            <a:r>
              <a:t>Presenter: Dale Murphy</a:t>
            </a:r>
          </a:p>
          <a:p>
            <a:pPr>
              <a:defRPr sz="2400"/>
            </a:pPr>
            <a:r>
              <a:t>Code:You Final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Containerized Saleor with Docker</a:t>
            </a:r>
          </a:p>
          <a:p>
            <a:pPr>
              <a:defRPr sz="2400"/>
            </a:pPr>
            <a:r>
              <a:t>Automated CI/CD</a:t>
            </a:r>
          </a:p>
          <a:p>
            <a:pPr>
              <a:defRPr sz="2400"/>
            </a:pPr>
            <a:r>
              <a:t>Published images to Docker Hub</a:t>
            </a:r>
          </a:p>
          <a:p>
            <a:pPr>
              <a:defRPr sz="2400"/>
            </a:pPr>
            <a:r>
              <a:t>Deployed to AWS ECS (Fargate)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Docker, Docker Compose</a:t>
            </a:r>
          </a:p>
          <a:p>
            <a:pPr>
              <a:defRPr sz="2400"/>
            </a:pPr>
            <a:r>
              <a:t>GitHub &amp; GitHub Actions</a:t>
            </a:r>
          </a:p>
          <a:p>
            <a:pPr>
              <a:defRPr sz="2400"/>
            </a:pPr>
            <a:r>
              <a:t>Docker Hub</a:t>
            </a:r>
          </a:p>
          <a:p>
            <a:pPr>
              <a:defRPr sz="2400"/>
            </a:pPr>
            <a:r>
              <a:t>AWS ECS, Fargate, ALB</a:t>
            </a:r>
          </a:p>
          <a:p>
            <a:pPr>
              <a:defRPr sz="2400"/>
            </a:pPr>
            <a:r>
              <a:t>PostgreSQL, Redis, CloudWatch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Docker Compose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Saleor API</a:t>
            </a:r>
          </a:p>
          <a:p>
            <a:pPr>
              <a:defRPr sz="2400"/>
            </a:pPr>
            <a:r>
              <a:t>Dashboard</a:t>
            </a:r>
          </a:p>
          <a:p>
            <a:pPr>
              <a:defRPr sz="2400"/>
            </a:pPr>
            <a:r>
              <a:t>PostgreSQL</a:t>
            </a:r>
          </a:p>
          <a:p>
            <a:pPr>
              <a:defRPr sz="2400"/>
            </a:pPr>
            <a:r>
              <a:t>Redis</a:t>
            </a:r>
          </a:p>
          <a:p>
            <a:pPr>
              <a:defRPr sz="2400"/>
            </a:pPr>
            <a:r>
              <a:t>Mailpit</a:t>
            </a:r>
          </a:p>
          <a:p>
            <a:pPr>
              <a:defRPr sz="2400"/>
            </a:pPr>
            <a:r>
              <a:t>Jaeger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CI/CD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Develop → Staging → Production</a:t>
            </a:r>
          </a:p>
          <a:p>
            <a:pPr>
              <a:defRPr sz="2400"/>
            </a:pPr>
            <a:r>
              <a:t>Ruff, pip-audit, Trivy</a:t>
            </a:r>
          </a:p>
          <a:p>
            <a:pPr>
              <a:defRPr sz="2400"/>
            </a:pPr>
            <a:r>
              <a:t>Automatic Docker builds &amp; pushes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AWS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ECS Cluster</a:t>
            </a:r>
          </a:p>
          <a:p>
            <a:pPr>
              <a:defRPr sz="2400"/>
            </a:pPr>
            <a:r>
              <a:t>Task Definition</a:t>
            </a:r>
          </a:p>
          <a:p>
            <a:pPr>
              <a:defRPr sz="2400"/>
            </a:pPr>
            <a:r>
              <a:t>Service</a:t>
            </a:r>
          </a:p>
          <a:p>
            <a:pPr>
              <a:defRPr sz="2400"/>
            </a:pPr>
            <a:r>
              <a:t>Application Load Balancer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GitHub → GitHub Actions → Docker Hub → ECS (Fargate) → Load Balancer → Saleor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Solved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YAML errors</a:t>
            </a:r>
          </a:p>
          <a:p>
            <a:pPr>
              <a:defRPr sz="2400"/>
            </a:pPr>
            <a:r>
              <a:t>Docker tags</a:t>
            </a:r>
          </a:p>
          <a:p>
            <a:pPr>
              <a:defRPr sz="2400"/>
            </a:pPr>
            <a:r>
              <a:t>Database migrations</a:t>
            </a:r>
          </a:p>
          <a:p>
            <a:pPr>
              <a:defRPr sz="2400"/>
            </a:pPr>
            <a:r>
              <a:t>Health checks</a:t>
            </a:r>
          </a:p>
          <a:p>
            <a:pPr>
              <a:defRPr sz="2400"/>
            </a:pPr>
            <a:r>
              <a:t>AWS roles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Evidence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Screenshots included in proof document.</a:t>
            </a:r>
          </a:p>
          <a:p>
            <a:pPr>
              <a:defRPr sz="2400"/>
            </a:pPr>
            <a:r>
              <a:t>Cluster, Service, Running Task, Task Definition, Docker Hub, GitHub Actions, Load Balancer, Dashboard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Lessons Learned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Docker simplifies deployment</a:t>
            </a:r>
          </a:p>
          <a:p>
            <a:pPr>
              <a:defRPr sz="2400"/>
            </a:pPr>
            <a:r>
              <a:t>CI/CD improves reliability</a:t>
            </a:r>
          </a:p>
          <a:p>
            <a:pPr>
              <a:defRPr sz="2400"/>
            </a:pPr>
            <a:r>
              <a:t>Troubleshooting is essential</a:t>
            </a:r>
          </a:p>
          <a:p>
            <a:pPr>
              <a:defRPr sz="2400"/>
            </a:pPr>
            <a:r>
              <a:t>Questions?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Screenshots</a:t>
            </a:r>
          </a:p>
        </p:txBody>
      </p:sp>
      <p:pic>
        <p:nvPicPr>
          <p:cNvPr id="3" name="Picture 2" descr="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48640"/>
            <a:ext cx="2743200" cy="1645218"/>
          </a:xfrm>
          <a:prstGeom prst="rect">
            <a:avLst/>
          </a:prstGeom>
        </p:spPr>
      </p:pic>
      <p:pic>
        <p:nvPicPr>
          <p:cNvPr id="4" name="Picture 3" descr="img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548640"/>
            <a:ext cx="2743200" cy="2302464"/>
          </a:xfrm>
          <a:prstGeom prst="rect">
            <a:avLst/>
          </a:prstGeom>
        </p:spPr>
      </p:pic>
      <p:pic>
        <p:nvPicPr>
          <p:cNvPr id="5" name="Picture 4" descr="img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548640"/>
            <a:ext cx="2743200" cy="1478756"/>
          </a:xfrm>
          <a:prstGeom prst="rect">
            <a:avLst/>
          </a:prstGeom>
        </p:spPr>
      </p:pic>
      <p:pic>
        <p:nvPicPr>
          <p:cNvPr id="6" name="Picture 5" descr="img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60" y="548640"/>
            <a:ext cx="2743200" cy="1739153"/>
          </a:xfrm>
          <a:prstGeom prst="rect">
            <a:avLst/>
          </a:prstGeom>
        </p:spPr>
      </p:pic>
      <p:pic>
        <p:nvPicPr>
          <p:cNvPr id="7" name="Picture 6" descr="img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320" y="2651760"/>
            <a:ext cx="2743200" cy="1812280"/>
          </a:xfrm>
          <a:prstGeom prst="rect">
            <a:avLst/>
          </a:prstGeom>
        </p:spPr>
      </p:pic>
      <p:pic>
        <p:nvPicPr>
          <p:cNvPr id="8" name="Picture 7" descr="img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0400" y="2651760"/>
            <a:ext cx="2743200" cy="1647527"/>
          </a:xfrm>
          <a:prstGeom prst="rect">
            <a:avLst/>
          </a:prstGeom>
        </p:spPr>
      </p:pic>
      <p:pic>
        <p:nvPicPr>
          <p:cNvPr id="9" name="Picture 8" descr="img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6480" y="2651760"/>
            <a:ext cx="2743200" cy="1352848"/>
          </a:xfrm>
          <a:prstGeom prst="rect">
            <a:avLst/>
          </a:prstGeom>
        </p:spPr>
      </p:pic>
      <p:pic>
        <p:nvPicPr>
          <p:cNvPr id="10" name="Picture 9" descr="img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52560" y="2651760"/>
            <a:ext cx="2743200" cy="16193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