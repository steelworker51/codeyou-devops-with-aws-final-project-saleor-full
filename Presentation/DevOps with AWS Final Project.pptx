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Inter SemiBold"/>
      <p:regular r:id="rId26"/>
      <p:bold r:id="rId27"/>
      <p:italic r:id="rId28"/>
      <p:boldItalic r:id="rId29"/>
    </p:embeddedFont>
    <p:embeddedFont>
      <p:font typeface="Poppins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15AE62-6908-4A5D-B354-C9D51EF5B233}">
  <a:tblStyle styleId="{3715AE62-6908-4A5D-B354-C9D51EF5B2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20" Type="http://schemas.openxmlformats.org/officeDocument/2006/relationships/slide" Target="slides/slide14.xml"/><Relationship Id="rId41" Type="http://schemas.openxmlformats.org/officeDocument/2006/relationships/font" Target="fonts/PoppinsSemiBold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regular.fntdata"/><Relationship Id="rId25" Type="http://schemas.openxmlformats.org/officeDocument/2006/relationships/slide" Target="slides/slide19.xml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5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-italic.fntdata"/><Relationship Id="rId13" Type="http://schemas.openxmlformats.org/officeDocument/2006/relationships/slide" Target="slides/slide7.xml"/><Relationship Id="rId35" Type="http://schemas.openxmlformats.org/officeDocument/2006/relationships/font" Target="fonts/Inter-bold.fntdata"/><Relationship Id="rId12" Type="http://schemas.openxmlformats.org/officeDocument/2006/relationships/slide" Target="slides/slide6.xml"/><Relationship Id="rId34" Type="http://schemas.openxmlformats.org/officeDocument/2006/relationships/font" Target="fonts/Inter-regular.fntdata"/><Relationship Id="rId15" Type="http://schemas.openxmlformats.org/officeDocument/2006/relationships/slide" Target="slides/slide9.xml"/><Relationship Id="rId37" Type="http://schemas.openxmlformats.org/officeDocument/2006/relationships/font" Target="fonts/Inter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-italic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bold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Relationship Id="rId10" Type="http://schemas.openxmlformats.org/officeDocument/2006/relationships/image" Target="../media/image18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3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11" Type="http://schemas.openxmlformats.org/officeDocument/2006/relationships/image" Target="../media/image60.png"/><Relationship Id="rId10" Type="http://schemas.openxmlformats.org/officeDocument/2006/relationships/image" Target="../media/image21.png"/><Relationship Id="rId9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42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11" Type="http://schemas.openxmlformats.org/officeDocument/2006/relationships/image" Target="../media/image31.png"/><Relationship Id="rId10" Type="http://schemas.openxmlformats.org/officeDocument/2006/relationships/image" Target="../media/image39.png"/><Relationship Id="rId12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56.png"/><Relationship Id="rId6" Type="http://schemas.openxmlformats.org/officeDocument/2006/relationships/image" Target="../media/image55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53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Relationship Id="rId5" Type="http://schemas.openxmlformats.org/officeDocument/2006/relationships/image" Target="../media/image44.png"/><Relationship Id="rId6" Type="http://schemas.openxmlformats.org/officeDocument/2006/relationships/image" Target="../media/image33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41.png"/><Relationship Id="rId11" Type="http://schemas.openxmlformats.org/officeDocument/2006/relationships/image" Target="../media/image46.png"/><Relationship Id="rId10" Type="http://schemas.openxmlformats.org/officeDocument/2006/relationships/image" Target="../media/image47.png"/><Relationship Id="rId12" Type="http://schemas.openxmlformats.org/officeDocument/2006/relationships/image" Target="../media/image52.png"/><Relationship Id="rId9" Type="http://schemas.openxmlformats.org/officeDocument/2006/relationships/image" Target="../media/image35.png"/><Relationship Id="rId5" Type="http://schemas.openxmlformats.org/officeDocument/2006/relationships/image" Target="../media/image50.png"/><Relationship Id="rId6" Type="http://schemas.openxmlformats.org/officeDocument/2006/relationships/image" Target="../media/image48.png"/><Relationship Id="rId7" Type="http://schemas.openxmlformats.org/officeDocument/2006/relationships/image" Target="../media/image36.png"/><Relationship Id="rId8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69.png"/><Relationship Id="rId5" Type="http://schemas.openxmlformats.org/officeDocument/2006/relationships/image" Target="../media/image53.png"/><Relationship Id="rId6" Type="http://schemas.openxmlformats.org/officeDocument/2006/relationships/image" Target="../media/image6.png"/><Relationship Id="rId7" Type="http://schemas.openxmlformats.org/officeDocument/2006/relationships/image" Target="../media/image51.png"/><Relationship Id="rId8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53.png"/><Relationship Id="rId5" Type="http://schemas.openxmlformats.org/officeDocument/2006/relationships/image" Target="../media/image6.png"/><Relationship Id="rId6" Type="http://schemas.openxmlformats.org/officeDocument/2006/relationships/image" Target="../media/image57.png"/><Relationship Id="rId7" Type="http://schemas.openxmlformats.org/officeDocument/2006/relationships/image" Target="../media/image45.png"/><Relationship Id="rId8" Type="http://schemas.openxmlformats.org/officeDocument/2006/relationships/image" Target="../media/image6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59.png"/><Relationship Id="rId5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72.png"/><Relationship Id="rId11" Type="http://schemas.openxmlformats.org/officeDocument/2006/relationships/image" Target="../media/image68.png"/><Relationship Id="rId10" Type="http://schemas.openxmlformats.org/officeDocument/2006/relationships/image" Target="../media/image66.png"/><Relationship Id="rId12" Type="http://schemas.openxmlformats.org/officeDocument/2006/relationships/image" Target="../media/image76.png"/><Relationship Id="rId9" Type="http://schemas.openxmlformats.org/officeDocument/2006/relationships/image" Target="../media/image54.png"/><Relationship Id="rId5" Type="http://schemas.openxmlformats.org/officeDocument/2006/relationships/image" Target="../media/image73.png"/><Relationship Id="rId6" Type="http://schemas.openxmlformats.org/officeDocument/2006/relationships/image" Target="../media/image58.png"/><Relationship Id="rId7" Type="http://schemas.openxmlformats.org/officeDocument/2006/relationships/image" Target="../media/image6.png"/><Relationship Id="rId8" Type="http://schemas.openxmlformats.org/officeDocument/2006/relationships/image" Target="../media/image6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1.png"/><Relationship Id="rId4" Type="http://schemas.openxmlformats.org/officeDocument/2006/relationships/image" Target="../media/image82.png"/><Relationship Id="rId10" Type="http://schemas.openxmlformats.org/officeDocument/2006/relationships/image" Target="../media/image75.png"/><Relationship Id="rId9" Type="http://schemas.openxmlformats.org/officeDocument/2006/relationships/image" Target="../media/image63.png"/><Relationship Id="rId5" Type="http://schemas.openxmlformats.org/officeDocument/2006/relationships/image" Target="../media/image74.png"/><Relationship Id="rId6" Type="http://schemas.openxmlformats.org/officeDocument/2006/relationships/image" Target="../media/image65.png"/><Relationship Id="rId7" Type="http://schemas.openxmlformats.org/officeDocument/2006/relationships/image" Target="../media/image78.png"/><Relationship Id="rId8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5.png"/><Relationship Id="rId7" Type="http://schemas.openxmlformats.org/officeDocument/2006/relationships/image" Target="../media/image7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84.png"/><Relationship Id="rId5" Type="http://schemas.openxmlformats.org/officeDocument/2006/relationships/image" Target="../media/image81.png"/><Relationship Id="rId6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133" y="2334071"/>
            <a:ext cx="2535584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649604" y="2781746"/>
            <a:ext cx="4892642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DevOps with AWS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14612" y="3585567"/>
            <a:ext cx="69627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Automating Container Deployment for the Saleor E-Commerce Platform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357812" y="4280892"/>
            <a:ext cx="1476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Presenter: </a:t>
            </a:r>
            <a:r>
              <a:rPr lang="en-US" sz="1275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Dale  Murphy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6437"/>
            <a:ext cx="5324475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1976437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Saleor Multi-Service Stack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386012"/>
            <a:ext cx="5324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Containerized a real-world multi-service e-commerce platform into isolated runtime environments instead of direct local installations.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2902743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562725" y="3588543"/>
            <a:ext cx="18942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Containers?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62725" y="3998118"/>
            <a:ext cx="477202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Packaging application code alongside system dependencies guarantees identical runtime behavior across development, staging, and AWS production environments.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7975" y="3017043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923925" y="3024187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Python &amp; Django Backend: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Core business logic and database management.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23925" y="3681412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GraphQL API &amp; Admin Dashboard: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Front-end controls and API layer.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23925" y="4338637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PostgreSQL &amp; Redis: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Persistent data store and high-speed caching.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23925" y="4995862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Mailpit &amp; Jaeger: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Local email testing and distributed request tracing.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038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6957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3529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50101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 Built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5012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81025" y="2155031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Saleor API Dockerfile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4579143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Optimization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81025" y="4988718"/>
            <a:ext cx="5324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Used an official prebuilt Dashboard image to overcome Intel Mac memory constraints during local builds.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14537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923925" y="2612231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Starts with an official lightweight Python base image.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23925" y="3026568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Installs required Linux system packages and Python dependencies.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23925" y="3683793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Copies full application source code into container workdir.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23925" y="4098131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Defines the default entrypoint command to launch Gunicorn.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62651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04085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698081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112418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Containerizing Saleor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402806"/>
            <a:ext cx="53244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407693"/>
            <a:ext cx="532447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81025" y="2755106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Orchestrating Services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3164681"/>
            <a:ext cx="5324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Saleor requires multiple interdependent services. Docker Compose launches and connects them via a single YAML manifest.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286500" y="2726531"/>
            <a:ext cx="53244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Validation &amp; Startup Commands: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286500" y="3045618"/>
            <a:ext cx="53244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Validate manifest structure: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286500" y="4050506"/>
            <a:ext cx="53244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Start environment detached: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23925" y="3802856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Configured automated health checks for dependent services.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23925" y="4217193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Ensured PostgreSQL and Redis were ready before launching API.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171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31481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Multi-Container Docker Compose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45568"/>
            <a:ext cx="1102995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81025" y="2174081"/>
            <a:ext cx="110299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Validating local functionality prior to cloud deployment guarantees application stability.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90550" y="2655093"/>
            <a:ext cx="11010900" cy="279082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17"/>
          <p:cNvGraphicFramePr/>
          <p:nvPr/>
        </p:nvGraphicFramePr>
        <p:xfrm>
          <a:off x="590550" y="2655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{3715AE62-6908-4A5D-B354-C9D51EF5B233}</a:tableStyleId>
              </a:tblPr>
              <a:tblGrid>
                <a:gridCol w="2611350"/>
                <a:gridCol w="2153700"/>
                <a:gridCol w="6245875"/>
              </a:tblGrid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Service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Mapped 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Purpose &amp; 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Saleor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8000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GraphQL API endpoint &amp; Django core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Saleor Dashboard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Administrative web interface for store management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Mailpit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8025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Local SMTP server &amp; web UI for email testing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16686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Distributed tracing UI for performance 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7"/>
          <p:cNvSpPr/>
          <p:nvPr/>
        </p:nvSpPr>
        <p:spPr>
          <a:xfrm>
            <a:off x="590550" y="3212306"/>
            <a:ext cx="26113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201888" y="3212306"/>
            <a:ext cx="2153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355580" y="3212306"/>
            <a:ext cx="62458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90550" y="3769518"/>
            <a:ext cx="26113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201888" y="3769518"/>
            <a:ext cx="2153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355580" y="3769518"/>
            <a:ext cx="62458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90550" y="4326731"/>
            <a:ext cx="26113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201888" y="4326731"/>
            <a:ext cx="2153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355580" y="4326731"/>
            <a:ext cx="62458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90550" y="4883943"/>
            <a:ext cx="26113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201888" y="4883943"/>
            <a:ext cx="21536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355580" y="4883943"/>
            <a:ext cx="62458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Local Service Verification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05075"/>
            <a:ext cx="35242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505075"/>
            <a:ext cx="35242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505075"/>
            <a:ext cx="35242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813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57250" y="3467100"/>
            <a:ext cx="9093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57250" y="3876675"/>
            <a:ext cx="29718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Serves as the baseline branch for early feature additions, experimentation, and rapid developer integration testing.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27813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4610100" y="3467100"/>
            <a:ext cx="8693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staging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4610100" y="3876675"/>
            <a:ext cx="29718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Pre-production environment used for thorough integration tests and pre-release validation before production deployment.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2950" y="27813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8362950" y="3467100"/>
            <a:ext cx="12462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production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362950" y="3876675"/>
            <a:ext cx="29718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Represents the stable production-ready code. Pushing here triggers automatic deployment to AWS infrastructure.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0600" y="289560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24400" y="28956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Multi-Branch Strategy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5012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581025" y="2462212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GitHub Actions Automation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81025" y="2871787"/>
            <a:ext cx="5324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pipelines trigger on every code push to maintain high delivery speed and operational reliability.</a:t>
            </a:r>
            <a:endParaRPr/>
          </a:p>
        </p:txBody>
      </p:sp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14537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923925" y="3509962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Code checkout and automated tool installation.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23925" y="3924300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Code quality checks and dependency auditing.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23925" y="4338637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Docker image builds and security vulnerability scans.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23925" y="4752975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deployment push to Docker Hub registry.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5242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938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3529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76726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CI/CD Workflows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66975"/>
            <a:ext cx="3524250" cy="301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66975"/>
            <a:ext cx="3524250" cy="301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466975"/>
            <a:ext cx="3524250" cy="301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432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57250" y="3429000"/>
            <a:ext cx="4525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Ruff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57250" y="3838575"/>
            <a:ext cx="20193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Code Formatting &amp; Quality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52500" y="4433887"/>
            <a:ext cx="2971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Scans Python code instantly for formatting errors, style policy violations, and syntax anti-patterns.</a:t>
            </a:r>
            <a:endParaRPr/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27432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610100" y="3429000"/>
            <a:ext cx="10906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pip-audit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610100" y="3838575"/>
            <a:ext cx="16764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Dependency Scanner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610100" y="4461950"/>
            <a:ext cx="2971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Checks installed Python dependencies against known CVE vulnerability databases before build completion.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2950" y="27432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8362950" y="3429000"/>
            <a:ext cx="5281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Trivy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362950" y="3914838"/>
            <a:ext cx="1447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Container Security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62950" y="4576845"/>
            <a:ext cx="2971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Scans built Docker images for OS distribution package vulnerabilities and embedded library exploits.</a:t>
            </a:r>
            <a:endParaRPr/>
          </a:p>
        </p:txBody>
      </p:sp>
      <p:pic>
        <p:nvPicPr>
          <p:cNvPr descr="image.png" id="226" name="Google Shape;22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500" y="285750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24400" y="28575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9150" y="285750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Security Auditing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26518"/>
            <a:ext cx="5324475" cy="237648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581025" y="2669381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Environment Image Tags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81025" y="3078956"/>
            <a:ext cx="5324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Images built in CI/CD are tagged and published directly to Docker Hub for deployment consumption.</a:t>
            </a:r>
            <a:endParaRPr/>
          </a:p>
        </p:txBody>
      </p:sp>
      <p:pic>
        <p:nvPicPr>
          <p:cNvPr descr="image.png" id="238" name="Google Shape;23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2902743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6562725" y="3588543"/>
            <a:ext cx="34185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Centralized Container Registry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562725" y="3998118"/>
            <a:ext cx="477202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Provides an isolated, secure artifact storage layer linking GitHub Actions continuous integration with Amazon ECS container deployment.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8925" y="3017043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923925" y="3717131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 tag for active development builds.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923925" y="4131468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staging tag for testing environment images.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923925" y="4545806"/>
            <a:ext cx="4981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production tag pulled by AWS ECS during launch.</a:t>
            </a:r>
            <a:endParaRPr/>
          </a:p>
        </p:txBody>
      </p:sp>
      <p:pic>
        <p:nvPicPr>
          <p:cNvPr descr="image.png" id="245" name="Google Shape;24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73141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4575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56009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Docker Hub Registry Integration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5012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581025" y="2624137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Cloud Orchestration</a:t>
            </a:r>
            <a:endParaRPr/>
          </a:p>
        </p:txBody>
      </p:sp>
      <p:pic>
        <p:nvPicPr>
          <p:cNvPr descr="image.png" id="256" name="Google Shape;25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14537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923925" y="3033712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Amazon ECS: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Elastic Container Service manages scale and execution of containerized applications.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923925" y="3690937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AWS Fargate: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Serverless compute engine removing the overhead of managing underlying EC2 instances.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923925" y="4348162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ECS Cluster: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Created dedicated cluster named saleor-production-cluster.</a:t>
            </a:r>
            <a:endParaRPr/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04800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705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362450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AWS ECS &amp; Fargate Serverless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64656"/>
            <a:ext cx="35242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964656"/>
            <a:ext cx="35242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964656"/>
            <a:ext cx="35242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581025" y="2531268"/>
            <a:ext cx="110299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Task definition saleor-production defines exact operational specifications for ECS container tasks.</a:t>
            </a:r>
            <a:endParaRPr/>
          </a:p>
        </p:txBody>
      </p:sp>
      <p:pic>
        <p:nvPicPr>
          <p:cNvPr descr="image.png" id="273" name="Google Shape;27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324088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857250" y="3926681"/>
            <a:ext cx="19143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Container Image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57250" y="4336256"/>
            <a:ext cx="29718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Specifies Docker Hub repository path and exact image tag to pull.</a:t>
            </a:r>
            <a:endParaRPr/>
          </a:p>
        </p:txBody>
      </p:sp>
      <p:pic>
        <p:nvPicPr>
          <p:cNvPr descr="image.png" id="276" name="Google Shape;27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324088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4610100" y="3926681"/>
            <a:ext cx="16375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CPU &amp; Memory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4610100" y="4336256"/>
            <a:ext cx="29718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Allocates exact hardware compute resources to Fargate task.</a:t>
            </a:r>
            <a:endParaRPr/>
          </a:p>
        </p:txBody>
      </p:sp>
      <p:pic>
        <p:nvPicPr>
          <p:cNvPr descr="image.png" id="279" name="Google Shape;27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2950" y="324088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8362950" y="3926681"/>
            <a:ext cx="15530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Env &amp; Logging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8362950" y="4336256"/>
            <a:ext cx="29718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Injects runtime variables and routes logs directly to CloudWatch.</a:t>
            </a:r>
            <a:endParaRPr/>
          </a:p>
        </p:txBody>
      </p:sp>
      <p:pic>
        <p:nvPicPr>
          <p:cNvPr descr="image.png" id="282" name="Google Shape;282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550" y="335518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24400" y="335518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77250" y="335518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ECS Task Definition Blueprint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26518"/>
            <a:ext cx="5324475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26518"/>
            <a:ext cx="5324475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902743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857250" y="3588543"/>
            <a:ext cx="28692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Task Health Maintenance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857250" y="3998118"/>
            <a:ext cx="477202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Guarantees that specified target task counts remain continuously running. Automatically replaces failed tasks if unexpected crashes occur.</a:t>
            </a:r>
            <a:endParaRPr/>
          </a:p>
        </p:txBody>
      </p:sp>
      <p:pic>
        <p:nvPicPr>
          <p:cNvPr descr="image.png" id="296" name="Google Shape;29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25" y="2902743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6562725" y="3588543"/>
            <a:ext cx="253797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Load Balancer Binding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6562725" y="3998118"/>
            <a:ext cx="477202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Seamlessly integrates running ECS container instances with Application Load Balancer target groups for automated traffic routing.</a:t>
            </a:r>
            <a:endParaRPr/>
          </a:p>
        </p:txBody>
      </p:sp>
      <p:pic>
        <p:nvPicPr>
          <p:cNvPr descr="image.png" id="299" name="Google Shape;29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01704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38925" y="3017043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ECS Service Operations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26518"/>
            <a:ext cx="5324475" cy="2376487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581025" y="2633662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Traffic Distribution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581025" y="3043237"/>
            <a:ext cx="5324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Receives external client HTTP traffic and distributes requests across healthy Saleor API container tasks.</a:t>
            </a:r>
            <a:endParaRPr/>
          </a:p>
        </p:txBody>
      </p:sp>
      <p:pic>
        <p:nvPicPr>
          <p:cNvPr descr="image.png" id="310" name="Google Shape;31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2902743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/>
        </p:nvSpPr>
        <p:spPr>
          <a:xfrm>
            <a:off x="6562725" y="3588543"/>
            <a:ext cx="29805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Traffic Routing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6562725" y="3998118"/>
            <a:ext cx="477202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Requests are automatically shifted away from unhealthy targets to preserve maximum uptime and seamless user experience.</a:t>
            </a:r>
            <a:endParaRPr/>
          </a:p>
        </p:txBody>
      </p:sp>
      <p:pic>
        <p:nvPicPr>
          <p:cNvPr descr="image.png" id="313" name="Google Shape;31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01704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923925" y="3681412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Target Groups: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Groups active ECS tasks for balanced traffic delivery.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923925" y="4338637"/>
            <a:ext cx="49815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Health Probes: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Periodically queries app health endpoints to verify status.</a:t>
            </a:r>
            <a:endParaRPr/>
          </a:p>
        </p:txBody>
      </p:sp>
      <p:pic>
        <p:nvPicPr>
          <p:cNvPr descr="image.png" id="316" name="Google Shape;31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695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352925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Application Load Balancer (ALB)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62375"/>
            <a:ext cx="53244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762375"/>
            <a:ext cx="532447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581025" y="2995612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Initial Issue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581025" y="3405187"/>
            <a:ext cx="53244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Deployments failed on startup with database exception: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581025" y="4391025"/>
            <a:ext cx="53244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Root Cause: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Container started prior to database schema initialization.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6286500" y="2752725"/>
            <a:ext cx="5590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Fix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6286500" y="3162300"/>
            <a:ext cx="5324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Updated API startup script to execute migration before web server launch: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6286500" y="4391025"/>
            <a:ext cx="5324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Added PostgreSQL readiness retry logic to ensure database availability before running migrations.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Solving Migration Issues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26518"/>
            <a:ext cx="352425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26518"/>
            <a:ext cx="352425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626518"/>
            <a:ext cx="352425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902743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 txBox="1"/>
          <p:nvPr/>
        </p:nvSpPr>
        <p:spPr>
          <a:xfrm>
            <a:off x="857250" y="3588543"/>
            <a:ext cx="18299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Config &amp; Secrets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857250" y="3998118"/>
            <a:ext cx="29718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Resolved YAML indentation errors, incorrect GitHub Secret names, and invalid container tags.</a:t>
            </a:r>
            <a:endParaRPr/>
          </a:p>
        </p:txBody>
      </p:sp>
      <p:pic>
        <p:nvPicPr>
          <p:cNvPr descr="image.png" id="344" name="Google Shape;34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2902743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7"/>
          <p:cNvSpPr txBox="1"/>
          <p:nvPr/>
        </p:nvSpPr>
        <p:spPr>
          <a:xfrm>
            <a:off x="4610100" y="3588543"/>
            <a:ext cx="173427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Resource Limits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4610100" y="3998118"/>
            <a:ext cx="29718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Overcame Docker memory bounds, disk space exhaustion, and health check timeout windows.</a:t>
            </a:r>
            <a:endParaRPr/>
          </a:p>
        </p:txBody>
      </p:sp>
      <p:pic>
        <p:nvPicPr>
          <p:cNvPr descr="image.png" id="347" name="Google Shape;347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2950" y="2902743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7"/>
          <p:cNvSpPr txBox="1"/>
          <p:nvPr/>
        </p:nvSpPr>
        <p:spPr>
          <a:xfrm>
            <a:off x="8362950" y="3588543"/>
            <a:ext cx="16430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AWS IAM &amp; ALB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8362950" y="3998118"/>
            <a:ext cx="29718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Fixed AWS IAM task execution roles and corrected ALB target group health check failures.</a:t>
            </a:r>
            <a:endParaRPr/>
          </a:p>
        </p:txBody>
      </p:sp>
      <p:pic>
        <p:nvPicPr>
          <p:cNvPr descr="image.png" id="350" name="Google Shape;350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3450" y="301704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24400" y="301704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9150" y="3017043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7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Challenges &amp; Troubleshooting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8"/>
          <p:cNvSpPr txBox="1"/>
          <p:nvPr/>
        </p:nvSpPr>
        <p:spPr>
          <a:xfrm>
            <a:off x="581025" y="3050381"/>
            <a:ext cx="110299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Complete continuous deployment flow from source control to live cloud infrastructure:</a:t>
            </a:r>
            <a:endParaRPr/>
          </a:p>
        </p:txBody>
      </p:sp>
      <p:pic>
        <p:nvPicPr>
          <p:cNvPr descr="image.png" id="360" name="Google Shape;3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5412" y="3779043"/>
            <a:ext cx="2571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8"/>
          <p:cNvSpPr txBox="1"/>
          <p:nvPr/>
        </p:nvSpPr>
        <p:spPr>
          <a:xfrm>
            <a:off x="743902" y="4140993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GitHub Push</a:t>
            </a:r>
            <a:endParaRPr/>
          </a:p>
        </p:txBody>
      </p:sp>
      <p:pic>
        <p:nvPicPr>
          <p:cNvPr descr="image.png" id="362" name="Google Shape;36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1275" y="398383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3312" y="3779043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8"/>
          <p:cNvSpPr txBox="1"/>
          <p:nvPr/>
        </p:nvSpPr>
        <p:spPr>
          <a:xfrm>
            <a:off x="3029902" y="4140993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GitHub Actions</a:t>
            </a:r>
            <a:endParaRPr/>
          </a:p>
        </p:txBody>
      </p:sp>
      <p:pic>
        <p:nvPicPr>
          <p:cNvPr descr="image.png" id="365" name="Google Shape;36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7275" y="398383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3779043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8"/>
          <p:cNvSpPr txBox="1"/>
          <p:nvPr/>
        </p:nvSpPr>
        <p:spPr>
          <a:xfrm>
            <a:off x="5315902" y="4140993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Docker Hub</a:t>
            </a:r>
            <a:endParaRPr/>
          </a:p>
        </p:txBody>
      </p:sp>
      <p:pic>
        <p:nvPicPr>
          <p:cNvPr descr="image.png" id="368" name="Google Shape;36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3275" y="398383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15312" y="3779043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8"/>
          <p:cNvSpPr txBox="1"/>
          <p:nvPr/>
        </p:nvSpPr>
        <p:spPr>
          <a:xfrm>
            <a:off x="7601902" y="4140993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AWS ECS Fargate</a:t>
            </a:r>
            <a:endParaRPr/>
          </a:p>
        </p:txBody>
      </p:sp>
      <p:pic>
        <p:nvPicPr>
          <p:cNvPr descr="image.png" id="371" name="Google Shape;37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39275" y="398383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01312" y="3779043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8"/>
          <p:cNvSpPr txBox="1"/>
          <p:nvPr/>
        </p:nvSpPr>
        <p:spPr>
          <a:xfrm>
            <a:off x="9887902" y="4140993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AWS ALB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End-to-End Architecture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9"/>
          <p:cNvSpPr txBox="1"/>
          <p:nvPr/>
        </p:nvSpPr>
        <p:spPr>
          <a:xfrm>
            <a:off x="923925" y="2986087"/>
            <a:ext cx="50768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Local Docker Compose environment</a:t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923925" y="3400425"/>
            <a:ext cx="50768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3-branch CI/CD workflows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923925" y="3814762"/>
            <a:ext cx="50768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Integrated Ruff, pip-audit, &amp; Trivy</a:t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923925" y="4229100"/>
            <a:ext cx="50768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Tagged Docker Hub repositories</a:t>
            </a:r>
            <a:endParaRPr/>
          </a:p>
        </p:txBody>
      </p:sp>
      <p:sp>
        <p:nvSpPr>
          <p:cNvPr id="384" name="Google Shape;384;p29"/>
          <p:cNvSpPr txBox="1"/>
          <p:nvPr/>
        </p:nvSpPr>
        <p:spPr>
          <a:xfrm>
            <a:off x="6534150" y="2986087"/>
            <a:ext cx="50768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Active AWS ECS Cluster &amp; Fargate</a:t>
            </a:r>
            <a:endParaRPr/>
          </a:p>
        </p:txBody>
      </p:sp>
      <p:sp>
        <p:nvSpPr>
          <p:cNvPr id="385" name="Google Shape;385;p29"/>
          <p:cNvSpPr txBox="1"/>
          <p:nvPr/>
        </p:nvSpPr>
        <p:spPr>
          <a:xfrm>
            <a:off x="6534150" y="3400425"/>
            <a:ext cx="50768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Configured Task Definitions &amp; Services</a:t>
            </a:r>
            <a:endParaRPr/>
          </a:p>
        </p:txBody>
      </p:sp>
      <p:sp>
        <p:nvSpPr>
          <p:cNvPr id="386" name="Google Shape;386;p29"/>
          <p:cNvSpPr txBox="1"/>
          <p:nvPr/>
        </p:nvSpPr>
        <p:spPr>
          <a:xfrm>
            <a:off x="6534150" y="3814762"/>
            <a:ext cx="50768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Functional Application Load Balancer</a:t>
            </a:r>
            <a:endParaRPr/>
          </a:p>
        </p:txBody>
      </p:sp>
      <p:sp>
        <p:nvSpPr>
          <p:cNvPr id="387" name="Google Shape;387;p29"/>
          <p:cNvSpPr txBox="1"/>
          <p:nvPr/>
        </p:nvSpPr>
        <p:spPr>
          <a:xfrm>
            <a:off x="6534150" y="4229100"/>
            <a:ext cx="50768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Production live AWS Deployment</a:t>
            </a:r>
            <a:endParaRPr/>
          </a:p>
        </p:txBody>
      </p:sp>
      <p:pic>
        <p:nvPicPr>
          <p:cNvPr descr="image.png" id="388" name="Google Shape;38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003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14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29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2433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0003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414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829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42433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9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Project Deliverables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1412" y="4219575"/>
            <a:ext cx="482917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5418" y="1962150"/>
            <a:ext cx="1681162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0"/>
          <p:cNvSpPr txBox="1"/>
          <p:nvPr/>
        </p:nvSpPr>
        <p:spPr>
          <a:xfrm>
            <a:off x="3100000" y="2409825"/>
            <a:ext cx="599199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  <a:endParaRPr/>
          </a:p>
        </p:txBody>
      </p:sp>
      <p:sp>
        <p:nvSpPr>
          <p:cNvPr id="405" name="Google Shape;405;p30"/>
          <p:cNvSpPr txBox="1"/>
          <p:nvPr/>
        </p:nvSpPr>
        <p:spPr>
          <a:xfrm>
            <a:off x="2047875" y="3305175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"DevOps is not only writing configuration files — it's about testing, interpreting logs, understanding failures, and continuously improving reliability."</a:t>
            </a:r>
            <a:endParaRPr/>
          </a:p>
        </p:txBody>
      </p:sp>
      <p:sp>
        <p:nvSpPr>
          <p:cNvPr id="406" name="Google Shape;406;p30"/>
          <p:cNvSpPr txBox="1"/>
          <p:nvPr/>
        </p:nvSpPr>
        <p:spPr>
          <a:xfrm>
            <a:off x="4319587" y="4457700"/>
            <a:ext cx="657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Heather</a:t>
            </a:r>
            <a:endParaRPr/>
          </a:p>
        </p:txBody>
      </p:sp>
      <p:sp>
        <p:nvSpPr>
          <p:cNvPr id="407" name="Google Shape;407;p30"/>
          <p:cNvSpPr txBox="1"/>
          <p:nvPr/>
        </p:nvSpPr>
        <p:spPr>
          <a:xfrm>
            <a:off x="5576887" y="4457700"/>
            <a:ext cx="25431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DevOps with AWS Final Project</a:t>
            </a:r>
            <a:endParaRPr/>
          </a:p>
        </p:txBody>
      </p:sp>
      <p:pic>
        <p:nvPicPr>
          <p:cNvPr descr="image.png" id="408" name="Google Shape;40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1937" y="447198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62562" y="4471987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4" name="Google Shape;41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1"/>
          <p:cNvSpPr/>
          <p:nvPr/>
        </p:nvSpPr>
        <p:spPr>
          <a:xfrm>
            <a:off x="581025" y="266223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581025" y="343376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581025" y="34242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581025" y="34242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581025" y="41957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581025" y="41957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1" name="Google Shape;42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51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1"/>
          <p:cNvSpPr txBox="1"/>
          <p:nvPr/>
        </p:nvSpPr>
        <p:spPr>
          <a:xfrm>
            <a:off x="1676400" y="281225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https://www.docker.com/app/uploads/2021/11/container-what-is-container.png</a:t>
            </a:r>
            <a:endParaRPr/>
          </a:p>
        </p:txBody>
      </p:sp>
      <p:sp>
        <p:nvSpPr>
          <p:cNvPr id="423" name="Google Shape;423;p31"/>
          <p:cNvSpPr txBox="1"/>
          <p:nvPr/>
        </p:nvSpPr>
        <p:spPr>
          <a:xfrm>
            <a:off x="1676400" y="304561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www.docker.com</a:t>
            </a:r>
            <a:endParaRPr/>
          </a:p>
        </p:txBody>
      </p:sp>
      <p:pic>
        <p:nvPicPr>
          <p:cNvPr descr="image.png" id="424" name="Google Shape;42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76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1"/>
          <p:cNvSpPr txBox="1"/>
          <p:nvPr/>
        </p:nvSpPr>
        <p:spPr>
          <a:xfrm>
            <a:off x="1676400" y="358378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https://miro.medium.com/1*4SJhCY05XrGBsAkQ8bJPYA.png</a:t>
            </a:r>
            <a:endParaRPr/>
          </a:p>
        </p:txBody>
      </p:sp>
      <p:sp>
        <p:nvSpPr>
          <p:cNvPr id="426" name="Google Shape;426;p31"/>
          <p:cNvSpPr txBox="1"/>
          <p:nvPr/>
        </p:nvSpPr>
        <p:spPr>
          <a:xfrm>
            <a:off x="1676400" y="381714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innerjoin.bit.io</a:t>
            </a:r>
            <a:endParaRPr/>
          </a:p>
        </p:txBody>
      </p:sp>
      <p:pic>
        <p:nvPicPr>
          <p:cNvPr descr="image.png" id="427" name="Google Shape;42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48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1"/>
          <p:cNvSpPr txBox="1"/>
          <p:nvPr/>
        </p:nvSpPr>
        <p:spPr>
          <a:xfrm>
            <a:off x="1676400" y="43553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https://lumigo.io/wp-content/uploads/2022/12/fargate-aws.png</a:t>
            </a:r>
            <a:endParaRPr/>
          </a:p>
        </p:txBody>
      </p:sp>
      <p:sp>
        <p:nvSpPr>
          <p:cNvPr id="429" name="Google Shape;429;p31"/>
          <p:cNvSpPr txBox="1"/>
          <p:nvPr/>
        </p:nvSpPr>
        <p:spPr>
          <a:xfrm>
            <a:off x="1676400" y="45886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lumigo.io</a:t>
            </a:r>
            <a:endParaRPr/>
          </a:p>
        </p:txBody>
      </p:sp>
      <p:sp>
        <p:nvSpPr>
          <p:cNvPr id="430" name="Google Shape;430;p31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